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A5FDC8-1FA1-4750-B4D7-D546F0AD029B}" v="4" dt="2025-12-28T12:21:07.3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2743200" cy="9144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0" y="2560320"/>
            <a:ext cx="3657600" cy="91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0" y="2560320"/>
            <a:ext cx="2743200" cy="91440"/>
          </a:xfrm>
          <a:prstGeom prst="rect">
            <a:avLst/>
          </a:prstGeom>
          <a:solidFill>
            <a:srgbClr val="45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Weather Trend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ECDC4"/>
                </a:solidFill>
              </a:defRPr>
            </a:pPr>
            <a:r>
              <a:t>Advanced Data Analysis &amp; Machine Learning Assessment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029200"/>
            <a:ext cx="1828800" cy="1097280"/>
          </a:xfrm>
          <a:prstGeom prst="roundRect">
            <a:avLst/>
          </a:prstGeom>
          <a:solidFill>
            <a:srgbClr val="1E1E32"/>
          </a:solidFill>
          <a:ln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ECDC4"/>
                </a:solidFill>
              </a:defRPr>
            </a:pPr>
            <a:r>
              <a:t>204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577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A0"/>
                </a:solidFill>
              </a:defRPr>
            </a:pPr>
            <a:r>
              <a:t>Countries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5029200"/>
            <a:ext cx="1828800" cy="1097280"/>
          </a:xfrm>
          <a:prstGeom prst="roundRect">
            <a:avLst/>
          </a:prstGeom>
          <a:solidFill>
            <a:srgbClr val="1E1E32"/>
          </a:solidFill>
          <a:ln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51206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ECDC4"/>
                </a:solidFill>
              </a:defRPr>
            </a:pPr>
            <a:r>
              <a:t>114K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577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A0"/>
                </a:solidFill>
              </a:defRPr>
            </a:pPr>
            <a:r>
              <a:t>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5029200"/>
            <a:ext cx="1828800" cy="1097280"/>
          </a:xfrm>
          <a:prstGeom prst="roundRect">
            <a:avLst/>
          </a:prstGeom>
          <a:solidFill>
            <a:srgbClr val="1E1E32"/>
          </a:solidFill>
          <a:ln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51206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ECDC4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577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A0"/>
                </a:solidFill>
              </a:defRPr>
            </a:pPr>
            <a:r>
              <a:t>ML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6B6B"/>
                </a:solidFill>
              </a:defRPr>
            </a:pPr>
            <a:r>
              <a:t>🚀 PM Accelerator 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8229600" cy="3200400"/>
          </a:xfrm>
          <a:prstGeom prst="roundRect">
            <a:avLst/>
          </a:prstGeom>
          <a:solidFill>
            <a:srgbClr val="1E1E32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i="1">
                <a:solidFill>
                  <a:srgbClr val="FFFFFF"/>
                </a:solidFill>
              </a:defRPr>
            </a:pPr>
            <a:r>
              <a:t>"By making industry-leading tools and education available to individuals from all backgrounds, we level the playing field for future PM leaders."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C896"/>
                </a:solidFill>
              </a:defRPr>
            </a:pPr>
            <a:r>
              <a:t>🎯 Access to Industry Leaders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54864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C896"/>
                </a:solidFill>
              </a:defRPr>
            </a:pPr>
            <a:r>
              <a:t>🌐 PM Ecosystem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54864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C896"/>
                </a:solidFill>
              </a:defRPr>
            </a:pPr>
            <a:r>
              <a:t>🤖 AI Product Skills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🌡️ Global Temperature Analysis</a:t>
            </a:r>
          </a:p>
        </p:txBody>
      </p:sp>
      <p:pic>
        <p:nvPicPr>
          <p:cNvPr id="5" name="Picture 4" descr="pres_temp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486400" cy="26921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0" y="1005840"/>
            <a:ext cx="3017520" cy="4846320"/>
          </a:xfrm>
          <a:prstGeom prst="roundRect">
            <a:avLst/>
          </a:prstGeom>
          <a:solidFill>
            <a:srgbClr val="1E1E32"/>
          </a:solidFill>
          <a:ln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0" y="10972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ECDC4"/>
                </a:solidFill>
              </a:defRPr>
            </a:pPr>
            <a:r>
              <a:t>💡 Key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55448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Range: -50°C to +55°C globally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Mean: ~15°C (varies by region)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Bimodal distribution (hemispheres)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Clear seasonal variations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🌍 Climate Zone Distribution</a:t>
            </a:r>
          </a:p>
        </p:txBody>
      </p:sp>
      <p:pic>
        <p:nvPicPr>
          <p:cNvPr id="5" name="Picture 4" descr="pres_climate_z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486400" cy="5349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0" y="1005840"/>
            <a:ext cx="3017520" cy="4846320"/>
          </a:xfrm>
          <a:prstGeom prst="roundRect">
            <a:avLst/>
          </a:prstGeom>
          <a:solidFill>
            <a:srgbClr val="1E1E32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0" y="10972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B6B"/>
                </a:solidFill>
              </a:defRPr>
            </a:pPr>
            <a:r>
              <a:t>💡 Key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55448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5 major climate zones identified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Tropical: Most stable temps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Temperate: Highest variability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Data covers all zones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5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📈 Seasonal Patterns &amp; Regional Analysis</a:t>
            </a:r>
          </a:p>
        </p:txBody>
      </p:sp>
      <p:pic>
        <p:nvPicPr>
          <p:cNvPr id="5" name="Picture 4" descr="pres_monthly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389120" cy="2153714"/>
          </a:xfrm>
          <a:prstGeom prst="rect">
            <a:avLst/>
          </a:prstGeom>
        </p:spPr>
      </p:pic>
      <p:pic>
        <p:nvPicPr>
          <p:cNvPr id="6" name="Picture 5" descr="pres_top_count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97280"/>
            <a:ext cx="4297680" cy="26475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🔗 Weather Variables Correlation</a:t>
            </a:r>
          </a:p>
        </p:txBody>
      </p:sp>
      <p:pic>
        <p:nvPicPr>
          <p:cNvPr id="5" name="Picture 4" descr="pres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486400" cy="472574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0" y="1005840"/>
            <a:ext cx="3017520" cy="4846320"/>
          </a:xfrm>
          <a:prstGeom prst="roundRect">
            <a:avLst/>
          </a:prstGeom>
          <a:solidFill>
            <a:srgbClr val="1E1E32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0" y="10972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A2BE2"/>
                </a:solidFill>
              </a:defRPr>
            </a:pPr>
            <a:r>
              <a:t>💡 Key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55448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Humidity negatively correlates with temp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UV index positively correlates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Pressure shows weak correlation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Wind largely independent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🌐 Hemisphere Comparison</a:t>
            </a:r>
          </a:p>
        </p:txBody>
      </p:sp>
      <p:pic>
        <p:nvPicPr>
          <p:cNvPr id="5" name="Picture 4" descr="pres_hemisphe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486400" cy="26921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0" y="1005840"/>
            <a:ext cx="3017520" cy="4846320"/>
          </a:xfrm>
          <a:prstGeom prst="roundRect">
            <a:avLst/>
          </a:prstGeom>
          <a:solidFill>
            <a:srgbClr val="1E1E32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0" y="10972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B6B"/>
                </a:solidFill>
              </a:defRPr>
            </a:pPr>
            <a:r>
              <a:t>💡 Key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55448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Opposite seasonal patterns N vs S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Northern: Peak in Jul-Aug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Southern: Peak in Dec-Jan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~6 month phase difference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🤖 Forecasting Model Comparison</a:t>
            </a:r>
          </a:p>
        </p:txBody>
      </p:sp>
      <p:pic>
        <p:nvPicPr>
          <p:cNvPr id="5" name="Picture 4" descr="pres_model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486400" cy="270606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0" y="1005840"/>
            <a:ext cx="3017520" cy="4846320"/>
          </a:xfrm>
          <a:prstGeom prst="roundRect">
            <a:avLst/>
          </a:prstGeom>
          <a:solidFill>
            <a:srgbClr val="1E1E32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0" y="10972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C896"/>
                </a:solidFill>
              </a:defRPr>
            </a:pPr>
            <a:r>
              <a:t>💡 Key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55448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5 models evaluated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XGBoost achieves lowest RMSE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R² = 0.82 (82% variance explained)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Production-ready features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📊 Model Performance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2743200" cy="2286000"/>
          </a:xfrm>
          <a:prstGeom prst="roundRect">
            <a:avLst/>
          </a:prstGeom>
          <a:solidFill>
            <a:srgbClr val="1E1E32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234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</a:defRPr>
            </a:pPr>
            <a:r>
              <a:t>XGBoost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96A0"/>
                </a:solidFill>
              </a:defRPr>
            </a:pPr>
            <a:r>
              <a:t>Gradient Boost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2024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B6B"/>
                </a:solidFill>
              </a:defRPr>
            </a:pPr>
            <a:r>
              <a:t>3.92°C</a:t>
            </a:r>
          </a:p>
          <a:p>
            <a:pPr algn="ctr">
              <a:defRPr sz="1000">
                <a:solidFill>
                  <a:srgbClr val="9696A0"/>
                </a:solidFill>
              </a:defRPr>
            </a:pPr>
            <a:r>
              <a:t>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2024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C896"/>
                </a:solidFill>
              </a:defRPr>
            </a:pPr>
            <a:r>
              <a:t>0.82</a:t>
            </a:r>
          </a:p>
          <a:p>
            <a:pPr algn="ctr">
              <a:defRPr sz="1000">
                <a:solidFill>
                  <a:srgbClr val="9696A0"/>
                </a:solidFill>
              </a:defRPr>
            </a:pPr>
            <a:r>
              <a:t>R²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097280"/>
            <a:ext cx="2743200" cy="2286000"/>
          </a:xfrm>
          <a:prstGeom prst="roundRect">
            <a:avLst/>
          </a:prstGeom>
          <a:solidFill>
            <a:srgbClr val="1E1E32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0" y="1234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ECDC4"/>
                </a:solidFill>
              </a:defRPr>
            </a:pPr>
            <a:r>
              <a:t>Gradient Boosting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96A0"/>
                </a:solidFill>
              </a:defRPr>
            </a:pPr>
            <a:r>
              <a:t>Gradient 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92024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B6B"/>
                </a:solidFill>
              </a:defRPr>
            </a:pPr>
            <a:r>
              <a:t>3.94°C</a:t>
            </a:r>
          </a:p>
          <a:p>
            <a:pPr algn="ctr">
              <a:defRPr sz="1000">
                <a:solidFill>
                  <a:srgbClr val="9696A0"/>
                </a:solidFill>
              </a:defRPr>
            </a:pPr>
            <a:r>
              <a:t>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C896"/>
                </a:solidFill>
              </a:defRPr>
            </a:pPr>
            <a:r>
              <a:t>0.81</a:t>
            </a:r>
          </a:p>
          <a:p>
            <a:pPr algn="ctr">
              <a:defRPr sz="1000">
                <a:solidFill>
                  <a:srgbClr val="9696A0"/>
                </a:solidFill>
              </a:defRPr>
            </a:pPr>
            <a:r>
              <a:t>R²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097280"/>
            <a:ext cx="2743200" cy="2286000"/>
          </a:xfrm>
          <a:prstGeom prst="roundRect">
            <a:avLst/>
          </a:prstGeom>
          <a:solidFill>
            <a:srgbClr val="1E1E32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1234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ECDC4"/>
                </a:solidFill>
              </a:defRPr>
            </a:pPr>
            <a: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96A0"/>
                </a:solidFill>
              </a:defRPr>
            </a:pPr>
            <a:r>
              <a:t>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92024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B6B"/>
                </a:solidFill>
              </a:defRPr>
            </a:pPr>
            <a:r>
              <a:t>4.32°C</a:t>
            </a:r>
          </a:p>
          <a:p>
            <a:pPr algn="ctr">
              <a:defRPr sz="1000">
                <a:solidFill>
                  <a:srgbClr val="9696A0"/>
                </a:solidFill>
              </a:defRPr>
            </a:pPr>
            <a:r>
              <a:t>RMSE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192024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C896"/>
                </a:solidFill>
              </a:defRPr>
            </a:pPr>
            <a:r>
              <a:t>0.78</a:t>
            </a:r>
          </a:p>
          <a:p>
            <a:pPr algn="ctr">
              <a:defRPr sz="1000">
                <a:solidFill>
                  <a:srgbClr val="9696A0"/>
                </a:solidFill>
              </a:defRPr>
            </a:pPr>
            <a:r>
              <a:t>R²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657600"/>
            <a:ext cx="2743200" cy="2286000"/>
          </a:xfrm>
          <a:prstGeom prst="roundRect">
            <a:avLst/>
          </a:prstGeom>
          <a:solidFill>
            <a:srgbClr val="1E1E32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3794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ECDC4"/>
                </a:solidFill>
              </a:defRPr>
            </a:pPr>
            <a:r>
              <a:t>Ridge Regression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114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96A0"/>
                </a:solidFill>
              </a:defRPr>
            </a:pPr>
            <a:r>
              <a:t>Linear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48056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B6B"/>
                </a:solidFill>
              </a:defRPr>
            </a:pPr>
            <a:r>
              <a:t>7.84°C</a:t>
            </a:r>
          </a:p>
          <a:p>
            <a:pPr algn="ctr">
              <a:defRPr sz="1000">
                <a:solidFill>
                  <a:srgbClr val="9696A0"/>
                </a:solidFill>
              </a:defRPr>
            </a:pPr>
            <a:r>
              <a:t>RMSE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48056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C896"/>
                </a:solidFill>
              </a:defRPr>
            </a:pPr>
            <a:r>
              <a:t>0.27</a:t>
            </a:r>
          </a:p>
          <a:p>
            <a:pPr algn="ctr">
              <a:defRPr sz="1000">
                <a:solidFill>
                  <a:srgbClr val="9696A0"/>
                </a:solidFill>
              </a:defRPr>
            </a:pPr>
            <a:r>
              <a:t>R²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3657600"/>
            <a:ext cx="2743200" cy="2286000"/>
          </a:xfrm>
          <a:prstGeom prst="roundRect">
            <a:avLst/>
          </a:prstGeom>
          <a:solidFill>
            <a:srgbClr val="1E1E32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0" y="3794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ECDC4"/>
                </a:solidFill>
              </a:defRPr>
            </a:pPr>
            <a:r>
              <a:t>Linear Regression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114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96A0"/>
                </a:solidFill>
              </a:defRPr>
            </a:pPr>
            <a:r>
              <a:t>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48056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B6B"/>
                </a:solidFill>
              </a:defRPr>
            </a:pPr>
            <a:r>
              <a:t>7.84°C</a:t>
            </a:r>
          </a:p>
          <a:p>
            <a:pPr algn="ctr">
              <a:defRPr sz="1000">
                <a:solidFill>
                  <a:srgbClr val="9696A0"/>
                </a:solidFill>
              </a:defRPr>
            </a:pPr>
            <a:r>
              <a:t>RMSE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48056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C896"/>
                </a:solidFill>
              </a:defRPr>
            </a:pPr>
            <a:r>
              <a:t>0.27</a:t>
            </a:r>
          </a:p>
          <a:p>
            <a:pPr algn="ctr">
              <a:defRPr sz="1000">
                <a:solidFill>
                  <a:srgbClr val="9696A0"/>
                </a:solidFill>
              </a:defRPr>
            </a:pPr>
            <a:r>
              <a:t>R²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📊 Feature Importance Analysis</a:t>
            </a:r>
          </a:p>
        </p:txBody>
      </p:sp>
      <p:pic>
        <p:nvPicPr>
          <p:cNvPr id="5" name="Picture 4" descr="pres_feature_i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486400" cy="338266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0" y="1005840"/>
            <a:ext cx="3017520" cy="4846320"/>
          </a:xfrm>
          <a:prstGeom prst="roundRect">
            <a:avLst/>
          </a:prstGeom>
          <a:solidFill>
            <a:srgbClr val="1E1E32"/>
          </a:solidFill>
          <a:ln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0" y="10972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ECDC4"/>
                </a:solidFill>
              </a:defRPr>
            </a:pPr>
            <a:r>
              <a:t>💡 Key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55448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Latitude most predictive (28%)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Temporal features crucial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Longitude adds regional info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• Multiple methods validated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🎯 Conclusions &amp;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8595360" cy="640080"/>
          </a:xfrm>
          <a:prstGeom prst="roundRect">
            <a:avLst/>
          </a:prstGeom>
          <a:solidFill>
            <a:srgbClr val="1E1E32"/>
          </a:solidFill>
          <a:ln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✅  XGBoost achieves best accuracy (RMSE: 3.92°C, R²: 0.82)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828800"/>
            <a:ext cx="8595360" cy="640080"/>
          </a:xfrm>
          <a:prstGeom prst="roundRect">
            <a:avLst/>
          </a:prstGeom>
          <a:solidFill>
            <a:srgbClr val="1E1E32"/>
          </a:solidFill>
          <a:ln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📊  Latitude is most predictive feature (49% importance)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560320"/>
            <a:ext cx="8595360" cy="640080"/>
          </a:xfrm>
          <a:prstGeom prst="roundRect">
            <a:avLst/>
          </a:prstGeom>
          <a:solidFill>
            <a:srgbClr val="1E1E32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🌡️  Clear seasonal patterns differ by hemisphere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291840"/>
            <a:ext cx="8595360" cy="640080"/>
          </a:xfrm>
          <a:prstGeom prst="roundRect">
            <a:avLst/>
          </a:prstGeom>
          <a:solidFill>
            <a:srgbClr val="1E1E32"/>
          </a:solidFill>
          <a:ln>
            <a:solidFill>
              <a:srgbClr val="45B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�  Production-ready features: location + date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2062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D700"/>
                </a:solidFill>
              </a:defRPr>
            </a:pPr>
            <a:r>
              <a:t>🚀 Future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75488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▸ Integrate real-time weather API for live predictions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75488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▸ Deploy regional-specific models for higher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39496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▸ Build interactive dashboard for stakeholder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394960"/>
            <a:ext cx="4297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▸ Expand to precipitation and extreme weather events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2743200" cy="9144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0" y="2926080"/>
            <a:ext cx="3657600" cy="91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0" y="2926080"/>
            <a:ext cx="2743200" cy="91440"/>
          </a:xfrm>
          <a:prstGeom prst="rect">
            <a:avLst/>
          </a:prstGeom>
          <a:solidFill>
            <a:srgbClr val="45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A0"/>
                </a:solidFill>
              </a:defRPr>
            </a:pPr>
            <a:r>
              <a:t>PM Accelerator | Weather Trend Forecasting Assessment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عرض على الشاشة (4:3)</PresentationFormat>
  <Paragraphs>0</Paragraphs>
  <Slides>12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12</vt:i4>
      </vt:variant>
    </vt:vector>
  </HeadingPairs>
  <TitlesOfParts>
    <vt:vector size="13" baseType="lpstr"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</cp:revision>
  <dcterms:created xsi:type="dcterms:W3CDTF">2013-01-27T09:14:16Z</dcterms:created>
  <dcterms:modified xsi:type="dcterms:W3CDTF">2025-12-28T12:22:30Z</dcterms:modified>
  <cp:category/>
</cp:coreProperties>
</file>